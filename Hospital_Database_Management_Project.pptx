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3" r:id="rId15"/>
    <p:sldId id="275" r:id="rId16"/>
    <p:sldId id="274" r:id="rId17"/>
    <p:sldId id="259" r:id="rId18"/>
  </p:sldIdLst>
  <p:sldSz cx="12192000" cy="6858000"/>
  <p:notesSz cx="6858000" cy="9144000"/>
  <p:embeddedFontLst>
    <p:embeddedFont>
      <p:font typeface="Lato Black" panose="020B0604020202020204" charset="0"/>
      <p:bold r:id="rId20"/>
      <p:boldItalic r:id="rId21"/>
    </p:embeddedFont>
    <p:embeddedFont>
      <p:font typeface="Libre Baskerville" panose="020B0604020202020204" charset="0"/>
      <p:regular r:id="rId22"/>
      <p:bold r:id="rId23"/>
      <p:italic r:id="rId24"/>
    </p:embeddedFont>
    <p:embeddedFont>
      <p:font typeface="Calibri" panose="020F0502020204030204" pitchFamily="34" charset="0"/>
      <p:regular r:id="rId25"/>
      <p:bold r:id="rId26"/>
      <p:italic r:id="rId27"/>
      <p:bold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i4HmEECUlll0m8HTY06QsqsmZGGQ=="/>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account" initials="Ma" lastIdx="1" clrIdx="0">
    <p:extLst>
      <p:ext uri="{19B8F6BF-5375-455C-9EA6-DF929625EA0E}">
        <p15:presenceInfo xmlns:p15="http://schemas.microsoft.com/office/powerpoint/2012/main" userId="4f9a12e175e87b9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62" autoAdjust="0"/>
    <p:restoredTop sz="94660"/>
  </p:normalViewPr>
  <p:slideViewPr>
    <p:cSldViewPr snapToGrid="0">
      <p:cViewPr varScale="1">
        <p:scale>
          <a:sx n="74" d="100"/>
          <a:sy n="74" d="100"/>
        </p:scale>
        <p:origin x="53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49201228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301246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31712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2985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393576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kedin.com/in/gayatri-borate-853907367"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gayatriborate16/Gayatri-Borate.git"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78812"/>
            <a:ext cx="12190815" cy="6694098"/>
          </a:xfrm>
          <a:prstGeom prst="rect">
            <a:avLst/>
          </a:prstGeom>
          <a:noFill/>
          <a:ln>
            <a:noFill/>
          </a:ln>
        </p:spPr>
      </p:pic>
      <p:sp>
        <p:nvSpPr>
          <p:cNvPr id="99" name="Google Shape;99;p1"/>
          <p:cNvSpPr txBox="1"/>
          <p:nvPr/>
        </p:nvSpPr>
        <p:spPr>
          <a:xfrm>
            <a:off x="2472904" y="3717986"/>
            <a:ext cx="7246189" cy="203128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IN" sz="1800" b="0" i="0" u="none" strike="noStrike" cap="none" dirty="0">
                <a:solidFill>
                  <a:schemeClr val="dk1"/>
                </a:solidFill>
                <a:latin typeface="Calibri"/>
                <a:ea typeface="Calibri"/>
                <a:cs typeface="Calibri"/>
                <a:sym typeface="Calibri"/>
              </a:rPr>
              <a:t/>
            </a:r>
            <a:br>
              <a:rPr lang="en-IN" sz="1800" b="0" i="0" u="none" strike="noStrike" cap="none" dirty="0">
                <a:solidFill>
                  <a:schemeClr val="dk1"/>
                </a:solidFill>
                <a:latin typeface="Calibri"/>
                <a:ea typeface="Calibri"/>
                <a:cs typeface="Calibri"/>
                <a:sym typeface="Calibri"/>
              </a:rPr>
            </a:br>
            <a:r>
              <a:rPr lang="en-IN" sz="3600" b="1" dirty="0" smtClean="0">
                <a:solidFill>
                  <a:schemeClr val="dk1"/>
                </a:solidFill>
                <a:latin typeface="Calibri" panose="020F0502020204030204" pitchFamily="34" charset="0"/>
                <a:ea typeface="Calibri"/>
                <a:cs typeface="Calibri" panose="020F0502020204030204" pitchFamily="34" charset="0"/>
                <a:sym typeface="Calibri"/>
              </a:rPr>
              <a:t>HOSPITAL DATABASE </a:t>
            </a:r>
            <a:r>
              <a:rPr lang="en-IN" sz="3600" b="1" dirty="0" smtClean="0">
                <a:solidFill>
                  <a:schemeClr val="dk1"/>
                </a:solidFill>
                <a:latin typeface="Calibri" panose="020F0502020204030204" pitchFamily="34" charset="0"/>
                <a:ea typeface="Calibri"/>
                <a:cs typeface="Calibri" panose="020F0502020204030204" pitchFamily="34" charset="0"/>
                <a:sym typeface="Calibri"/>
              </a:rPr>
              <a:t>MANAGEMENT</a:t>
            </a:r>
            <a:endParaRPr lang="en-US" sz="3600" b="1" i="0" strike="noStrike" cap="none" dirty="0">
              <a:solidFill>
                <a:schemeClr val="dk1"/>
              </a:solidFill>
              <a:latin typeface="Calibri" panose="020F0502020204030204" pitchFamily="34" charset="0"/>
              <a:cs typeface="Calibri" panose="020F0502020204030204" pitchFamily="34" charset="0"/>
              <a:sym typeface="Calibri"/>
            </a:endParaRPr>
          </a:p>
          <a:p>
            <a:pPr marL="342900" marR="0" lvl="0" indent="-342900" algn="ctr" rtl="0">
              <a:lnSpc>
                <a:spcPct val="100000"/>
              </a:lnSpc>
              <a:spcBef>
                <a:spcPts val="0"/>
              </a:spcBef>
              <a:spcAft>
                <a:spcPts val="0"/>
              </a:spcAft>
              <a:buClr>
                <a:srgbClr val="000000"/>
              </a:buClr>
              <a:buSzPts val="1800"/>
              <a:buFontTx/>
              <a:buChar char="-"/>
            </a:pPr>
            <a:r>
              <a:rPr lang="en-US" sz="2400" b="1" dirty="0" smtClean="0">
                <a:solidFill>
                  <a:schemeClr val="dk1"/>
                </a:solidFill>
                <a:latin typeface="Calibri" panose="020F0502020204030204" pitchFamily="34" charset="0"/>
                <a:cs typeface="Calibri" panose="020F0502020204030204" pitchFamily="34" charset="0"/>
                <a:sym typeface="Calibri"/>
              </a:rPr>
              <a:t>By GAYATRI </a:t>
            </a:r>
            <a:r>
              <a:rPr lang="en-US" sz="2400" b="1" dirty="0" smtClean="0">
                <a:solidFill>
                  <a:schemeClr val="dk1"/>
                </a:solidFill>
                <a:latin typeface="Calibri" panose="020F0502020204030204" pitchFamily="34" charset="0"/>
                <a:cs typeface="Calibri" panose="020F0502020204030204" pitchFamily="34" charset="0"/>
                <a:sym typeface="Calibri"/>
              </a:rPr>
              <a:t>BORATE</a:t>
            </a:r>
          </a:p>
          <a:p>
            <a:pPr marR="0" lvl="0" algn="ctr" rtl="0">
              <a:lnSpc>
                <a:spcPct val="100000"/>
              </a:lnSpc>
              <a:spcBef>
                <a:spcPts val="0"/>
              </a:spcBef>
              <a:spcAft>
                <a:spcPts val="0"/>
              </a:spcAft>
              <a:buClr>
                <a:srgbClr val="000000"/>
              </a:buClr>
              <a:buSzPts val="1800"/>
            </a:pPr>
            <a:endParaRPr lang="en-US" sz="2400" b="1" dirty="0" smtClean="0">
              <a:solidFill>
                <a:schemeClr val="dk1"/>
              </a:solidFill>
              <a:latin typeface="Calibri" panose="020F0502020204030204" pitchFamily="34" charset="0"/>
              <a:cs typeface="Calibri" panose="020F0502020204030204" pitchFamily="34" charset="0"/>
              <a:sym typeface="Calibri"/>
            </a:endParaRPr>
          </a:p>
          <a:p>
            <a:pPr marR="0" lvl="0" algn="ctr" rtl="0">
              <a:lnSpc>
                <a:spcPct val="100000"/>
              </a:lnSpc>
              <a:spcBef>
                <a:spcPts val="0"/>
              </a:spcBef>
              <a:spcAft>
                <a:spcPts val="0"/>
              </a:spcAft>
              <a:buClr>
                <a:srgbClr val="000000"/>
              </a:buClr>
              <a:buSzPts val="1800"/>
            </a:pPr>
            <a:r>
              <a:rPr lang="en-US" sz="2400" b="1" dirty="0" smtClean="0">
                <a:solidFill>
                  <a:schemeClr val="dk1"/>
                </a:solidFill>
                <a:latin typeface="Calibri" panose="020F0502020204030204" pitchFamily="34" charset="0"/>
                <a:cs typeface="Calibri" panose="020F0502020204030204" pitchFamily="34" charset="0"/>
                <a:sym typeface="Calibri"/>
              </a:rPr>
              <a:t>- Guided By </a:t>
            </a:r>
            <a:r>
              <a:rPr lang="en-US" sz="2400" b="1" dirty="0" err="1" smtClean="0">
                <a:solidFill>
                  <a:schemeClr val="dk1"/>
                </a:solidFill>
                <a:latin typeface="Calibri" panose="020F0502020204030204" pitchFamily="34" charset="0"/>
                <a:cs typeface="Calibri" panose="020F0502020204030204" pitchFamily="34" charset="0"/>
                <a:sym typeface="Calibri"/>
              </a:rPr>
              <a:t>Manisha</a:t>
            </a:r>
            <a:r>
              <a:rPr lang="en-US" sz="2400" b="1" dirty="0" smtClean="0">
                <a:solidFill>
                  <a:schemeClr val="dk1"/>
                </a:solidFill>
                <a:latin typeface="Calibri" panose="020F0502020204030204" pitchFamily="34" charset="0"/>
                <a:cs typeface="Calibri" panose="020F0502020204030204" pitchFamily="34" charset="0"/>
                <a:sym typeface="Calibri"/>
              </a:rPr>
              <a:t> Ma’am</a:t>
            </a:r>
            <a:endParaRPr sz="3600" b="1" i="0" strike="noStrike" cap="none" dirty="0">
              <a:solidFill>
                <a:srgbClr val="000000"/>
              </a:solidFill>
              <a:latin typeface="Calibri" panose="020F0502020204030204" pitchFamily="34" charset="0"/>
              <a:cs typeface="Calibri" panose="020F0502020204030204" pitchFamily="34" charset="0"/>
              <a:sym typeface="Aria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427656" y="1299172"/>
            <a:ext cx="11307144" cy="4524275"/>
          </a:xfrm>
          <a:prstGeom prst="rect">
            <a:avLst/>
          </a:prstGeom>
          <a:noFill/>
          <a:ln>
            <a:noFill/>
          </a:ln>
        </p:spPr>
        <p:txBody>
          <a:bodyPr spcFirstLastPara="1" wrap="square" lIns="91425" tIns="45700" rIns="91425" bIns="45700" anchor="t" anchorCtr="0">
            <a:spAutoFit/>
          </a:bodyPr>
          <a:lstStyle/>
          <a:p>
            <a:pPr marL="304800" marR="0" lvl="0" indent="-342900" rtl="0">
              <a:lnSpc>
                <a:spcPct val="100000"/>
              </a:lnSpc>
              <a:spcBef>
                <a:spcPts val="0"/>
              </a:spcBef>
              <a:spcAft>
                <a:spcPts val="0"/>
              </a:spcAft>
              <a:buClr>
                <a:schemeClr val="dk1"/>
              </a:buClr>
              <a:buSzPts val="2400"/>
              <a:buFont typeface="Wingdings" panose="05000000000000000000" pitchFamily="2" charset="2"/>
              <a:buChar char="q"/>
            </a:pPr>
            <a:r>
              <a:rPr lang="en-IN" sz="2400" b="1" i="0" u="sng" strike="noStrike" cap="none" dirty="0" smtClean="0">
                <a:solidFill>
                  <a:schemeClr val="dk1"/>
                </a:solidFill>
                <a:latin typeface="Calibri"/>
                <a:ea typeface="Calibri"/>
                <a:cs typeface="Calibri"/>
                <a:sym typeface="Calibri"/>
              </a:rPr>
              <a:t>Background</a:t>
            </a:r>
            <a:r>
              <a:rPr lang="en-IN" sz="2400" b="1" dirty="0">
                <a:solidFill>
                  <a:schemeClr val="dk1"/>
                </a:solidFill>
                <a:latin typeface="Calibri"/>
                <a:ea typeface="Calibri"/>
                <a:cs typeface="Calibri"/>
                <a:sym typeface="Calibri"/>
              </a:rPr>
              <a:t> </a:t>
            </a:r>
            <a:r>
              <a:rPr lang="en-IN" sz="2400" b="1" dirty="0" smtClean="0">
                <a:solidFill>
                  <a:schemeClr val="dk1"/>
                </a:solidFill>
                <a:latin typeface="Calibri"/>
                <a:ea typeface="Calibri"/>
                <a:cs typeface="Calibri"/>
                <a:sym typeface="Calibri"/>
              </a:rPr>
              <a:t>: BSC(Computer Science) from </a:t>
            </a:r>
            <a:r>
              <a:rPr lang="en-IN" sz="2400" b="1" dirty="0" err="1" smtClean="0">
                <a:solidFill>
                  <a:schemeClr val="dk1"/>
                </a:solidFill>
                <a:latin typeface="Calibri"/>
                <a:ea typeface="Calibri"/>
                <a:cs typeface="Calibri"/>
                <a:sym typeface="Calibri"/>
              </a:rPr>
              <a:t>Savitribai</a:t>
            </a:r>
            <a:r>
              <a:rPr lang="en-IN" sz="2400" b="1" dirty="0" smtClean="0">
                <a:solidFill>
                  <a:schemeClr val="dk1"/>
                </a:solidFill>
                <a:latin typeface="Calibri"/>
                <a:ea typeface="Calibri"/>
                <a:cs typeface="Calibri"/>
                <a:sym typeface="Calibri"/>
              </a:rPr>
              <a:t> </a:t>
            </a:r>
            <a:r>
              <a:rPr lang="en-IN" sz="2400" b="1" dirty="0" err="1" smtClean="0">
                <a:solidFill>
                  <a:schemeClr val="dk1"/>
                </a:solidFill>
                <a:latin typeface="Calibri"/>
                <a:ea typeface="Calibri"/>
                <a:cs typeface="Calibri"/>
                <a:sym typeface="Calibri"/>
              </a:rPr>
              <a:t>Phule</a:t>
            </a:r>
            <a:r>
              <a:rPr lang="en-IN" sz="2400" b="1" dirty="0" smtClean="0">
                <a:solidFill>
                  <a:schemeClr val="dk1"/>
                </a:solidFill>
                <a:latin typeface="Calibri"/>
                <a:ea typeface="Calibri"/>
                <a:cs typeface="Calibri"/>
                <a:sym typeface="Calibri"/>
              </a:rPr>
              <a:t> Pune University, Pune</a:t>
            </a:r>
          </a:p>
          <a:p>
            <a:pPr marL="342900" marR="0" lvl="0" indent="-342900" rtl="0">
              <a:lnSpc>
                <a:spcPct val="100000"/>
              </a:lnSpc>
              <a:spcBef>
                <a:spcPts val="0"/>
              </a:spcBef>
              <a:spcAft>
                <a:spcPts val="0"/>
              </a:spcAft>
              <a:buClr>
                <a:schemeClr val="dk1"/>
              </a:buClr>
              <a:buSzPts val="2400"/>
              <a:buFont typeface="Wingdings" panose="05000000000000000000" pitchFamily="2" charset="2"/>
              <a:buChar char="q"/>
            </a:pPr>
            <a:endParaRPr sz="2400" b="1" i="0" u="none" strike="noStrike" cap="none" dirty="0">
              <a:solidFill>
                <a:schemeClr val="dk1"/>
              </a:solidFill>
              <a:latin typeface="Calibri"/>
              <a:ea typeface="Calibri"/>
              <a:cs typeface="Calibri"/>
              <a:sym typeface="Calibri"/>
            </a:endParaRPr>
          </a:p>
          <a:p>
            <a:pPr marL="304800" lvl="0" indent="-342900">
              <a:buClr>
                <a:schemeClr val="dk1"/>
              </a:buClr>
              <a:buSzPts val="2400"/>
              <a:buFont typeface="Wingdings" panose="05000000000000000000" pitchFamily="2" charset="2"/>
              <a:buChar char="q"/>
            </a:pPr>
            <a:r>
              <a:rPr lang="en-IN" sz="2400" b="1" i="0" u="sng" strike="noStrike" cap="none" dirty="0">
                <a:solidFill>
                  <a:schemeClr val="dk1"/>
                </a:solidFill>
                <a:latin typeface="Calibri"/>
                <a:ea typeface="Calibri"/>
                <a:cs typeface="Calibri"/>
                <a:sym typeface="Calibri"/>
              </a:rPr>
              <a:t>Why you want to learn Data </a:t>
            </a:r>
            <a:r>
              <a:rPr lang="en-IN" sz="2400" b="1" i="0" u="sng" strike="noStrike" cap="none" dirty="0" smtClean="0">
                <a:solidFill>
                  <a:schemeClr val="dk1"/>
                </a:solidFill>
                <a:latin typeface="Calibri"/>
                <a:ea typeface="Calibri"/>
                <a:cs typeface="Calibri"/>
                <a:sym typeface="Calibri"/>
              </a:rPr>
              <a:t>Science</a:t>
            </a:r>
            <a:r>
              <a:rPr lang="en-IN" sz="2400" b="1" i="0" u="none" strike="noStrike" cap="none" dirty="0" smtClean="0">
                <a:solidFill>
                  <a:schemeClr val="dk1"/>
                </a:solidFill>
                <a:latin typeface="Calibri"/>
                <a:ea typeface="Calibri"/>
                <a:cs typeface="Calibri"/>
                <a:sym typeface="Calibri"/>
              </a:rPr>
              <a:t> : </a:t>
            </a:r>
            <a:r>
              <a:rPr lang="en-US" sz="2400" b="1" dirty="0">
                <a:latin typeface="Calibri" panose="020F0502020204030204" pitchFamily="34" charset="0"/>
                <a:cs typeface="Calibri" panose="020F0502020204030204" pitchFamily="34" charset="0"/>
              </a:rPr>
              <a:t>Data Science offers continuous learning and growth. As new technologies and methods evolve, it encourages me to stay curious, adaptable</a:t>
            </a:r>
            <a:r>
              <a:rPr lang="en-US" sz="2400" b="1" dirty="0" smtClean="0">
                <a:latin typeface="Calibri" panose="020F0502020204030204" pitchFamily="34" charset="0"/>
                <a:cs typeface="Calibri" panose="020F0502020204030204" pitchFamily="34" charset="0"/>
              </a:rPr>
              <a:t>, innovative and qualities </a:t>
            </a:r>
            <a:r>
              <a:rPr lang="en-US" sz="2400" b="1" dirty="0">
                <a:latin typeface="Calibri" panose="020F0502020204030204" pitchFamily="34" charset="0"/>
                <a:cs typeface="Calibri" panose="020F0502020204030204" pitchFamily="34" charset="0"/>
              </a:rPr>
              <a:t>that are essential for a successful career in today’s technology landscape</a:t>
            </a:r>
            <a:r>
              <a:rPr lang="en-US" sz="2400" b="1" dirty="0" smtClean="0">
                <a:latin typeface="Calibri" panose="020F0502020204030204" pitchFamily="34" charset="0"/>
                <a:cs typeface="Calibri" panose="020F0502020204030204" pitchFamily="34" charset="0"/>
              </a:rPr>
              <a:t>.</a:t>
            </a:r>
          </a:p>
          <a:p>
            <a:pPr marL="342900" lvl="0" indent="-342900">
              <a:buClr>
                <a:schemeClr val="dk1"/>
              </a:buClr>
              <a:buSzPts val="2400"/>
              <a:buFont typeface="Wingdings" panose="05000000000000000000" pitchFamily="2" charset="2"/>
              <a:buChar char="q"/>
            </a:pPr>
            <a:endParaRPr sz="2400" b="1" i="0" u="none" strike="noStrike" cap="none" dirty="0">
              <a:solidFill>
                <a:schemeClr val="dk1"/>
              </a:solidFill>
              <a:latin typeface="Calibri" panose="020F0502020204030204" pitchFamily="34" charset="0"/>
              <a:ea typeface="Calibri"/>
              <a:cs typeface="Calibri" panose="020F0502020204030204" pitchFamily="34" charset="0"/>
              <a:sym typeface="Calibri"/>
            </a:endParaRPr>
          </a:p>
          <a:p>
            <a:pPr marL="304800" marR="0" lvl="0" indent="-342900" algn="l" rtl="0">
              <a:lnSpc>
                <a:spcPct val="100000"/>
              </a:lnSpc>
              <a:spcBef>
                <a:spcPts val="0"/>
              </a:spcBef>
              <a:spcAft>
                <a:spcPts val="0"/>
              </a:spcAft>
              <a:buClr>
                <a:schemeClr val="dk1"/>
              </a:buClr>
              <a:buSzPts val="2400"/>
              <a:buFont typeface="Wingdings" panose="05000000000000000000" pitchFamily="2" charset="2"/>
              <a:buChar char="q"/>
            </a:pPr>
            <a:r>
              <a:rPr lang="en-IN" sz="2400" b="1" i="0" u="sng" strike="noStrike" cap="none" dirty="0">
                <a:solidFill>
                  <a:schemeClr val="dk1"/>
                </a:solidFill>
                <a:latin typeface="Calibri"/>
                <a:ea typeface="Calibri"/>
                <a:cs typeface="Calibri"/>
                <a:sym typeface="Calibri"/>
              </a:rPr>
              <a:t>Any work </a:t>
            </a:r>
            <a:r>
              <a:rPr lang="en-IN" sz="2400" b="1" i="0" u="sng" strike="noStrike" cap="none" dirty="0" smtClean="0">
                <a:solidFill>
                  <a:schemeClr val="dk1"/>
                </a:solidFill>
                <a:latin typeface="Calibri"/>
                <a:ea typeface="Calibri"/>
                <a:cs typeface="Calibri"/>
                <a:sym typeface="Calibri"/>
              </a:rPr>
              <a:t>experience </a:t>
            </a:r>
            <a:r>
              <a:rPr lang="en-IN" sz="2400" b="1" i="0" u="none" strike="noStrike" cap="none" dirty="0" smtClean="0">
                <a:solidFill>
                  <a:schemeClr val="dk1"/>
                </a:solidFill>
                <a:latin typeface="Calibri"/>
                <a:ea typeface="Calibri"/>
                <a:cs typeface="Calibri"/>
                <a:sym typeface="Calibri"/>
              </a:rPr>
              <a:t>: </a:t>
            </a:r>
            <a:r>
              <a:rPr lang="en-IN" sz="2400" b="1" i="0" u="none" strike="noStrike" cap="none" dirty="0" err="1" smtClean="0">
                <a:solidFill>
                  <a:schemeClr val="dk1"/>
                </a:solidFill>
                <a:latin typeface="Calibri"/>
                <a:ea typeface="Calibri"/>
                <a:cs typeface="Calibri"/>
                <a:sym typeface="Calibri"/>
              </a:rPr>
              <a:t>Freshers</a:t>
            </a:r>
            <a:endParaRPr lang="en-IN" sz="2400" b="1" i="0" u="none" strike="noStrike" cap="none" dirty="0" smtClean="0">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2400"/>
              <a:buFont typeface="Wingdings" panose="05000000000000000000" pitchFamily="2" charset="2"/>
              <a:buChar char="q"/>
            </a:pPr>
            <a:endParaRPr sz="2400" b="1" i="0" u="none" strike="noStrike" cap="none" dirty="0">
              <a:solidFill>
                <a:schemeClr val="dk1"/>
              </a:solidFill>
              <a:latin typeface="Calibri"/>
              <a:ea typeface="Calibri"/>
              <a:cs typeface="Calibri"/>
              <a:sym typeface="Calibri"/>
            </a:endParaRPr>
          </a:p>
          <a:p>
            <a:pPr marL="304800" marR="0" lvl="0" indent="-342900" algn="l" rtl="0">
              <a:lnSpc>
                <a:spcPct val="100000"/>
              </a:lnSpc>
              <a:spcBef>
                <a:spcPts val="0"/>
              </a:spcBef>
              <a:spcAft>
                <a:spcPts val="0"/>
              </a:spcAft>
              <a:buClr>
                <a:schemeClr val="dk1"/>
              </a:buClr>
              <a:buSzPts val="2400"/>
              <a:buFont typeface="Wingdings" panose="05000000000000000000" pitchFamily="2" charset="2"/>
              <a:buChar char="q"/>
            </a:pPr>
            <a:r>
              <a:rPr lang="en-IN" sz="2400" b="1" u="sng" dirty="0" smtClean="0">
                <a:solidFill>
                  <a:schemeClr val="dk1"/>
                </a:solidFill>
                <a:latin typeface="Calibri"/>
                <a:ea typeface="Calibri"/>
                <a:cs typeface="Calibri"/>
                <a:sym typeface="Calibri"/>
              </a:rPr>
              <a:t>LinkedIn</a:t>
            </a:r>
            <a:r>
              <a:rPr lang="en-IN" sz="2400" b="1" i="0" u="sng" strike="noStrike" cap="none" dirty="0" smtClean="0">
                <a:solidFill>
                  <a:schemeClr val="dk1"/>
                </a:solidFill>
                <a:latin typeface="Calibri"/>
                <a:ea typeface="Calibri"/>
                <a:cs typeface="Calibri"/>
                <a:sym typeface="Calibri"/>
              </a:rPr>
              <a:t> </a:t>
            </a:r>
            <a:r>
              <a:rPr lang="en-IN" sz="2400" b="1" i="0" u="sng" strike="noStrike" cap="none" dirty="0">
                <a:solidFill>
                  <a:schemeClr val="dk1"/>
                </a:solidFill>
                <a:latin typeface="Calibri"/>
                <a:ea typeface="Calibri"/>
                <a:cs typeface="Calibri"/>
                <a:sym typeface="Calibri"/>
              </a:rPr>
              <a:t>and </a:t>
            </a:r>
            <a:r>
              <a:rPr lang="en-IN" sz="2400" b="1" u="sng" dirty="0" err="1">
                <a:solidFill>
                  <a:schemeClr val="dk1"/>
                </a:solidFill>
                <a:latin typeface="Calibri"/>
                <a:ea typeface="Calibri"/>
                <a:cs typeface="Calibri"/>
                <a:sym typeface="Calibri"/>
              </a:rPr>
              <a:t>GitHub</a:t>
            </a:r>
            <a:r>
              <a:rPr lang="en-IN" sz="2400" b="1" i="0" u="sng" strike="noStrike" cap="none" dirty="0">
                <a:solidFill>
                  <a:schemeClr val="dk1"/>
                </a:solidFill>
                <a:latin typeface="Calibri"/>
                <a:ea typeface="Calibri"/>
                <a:cs typeface="Calibri"/>
                <a:sym typeface="Calibri"/>
              </a:rPr>
              <a:t> profile </a:t>
            </a:r>
            <a:r>
              <a:rPr lang="en-IN" sz="2400" b="1" u="sng" dirty="0" smtClean="0">
                <a:solidFill>
                  <a:schemeClr val="dk1"/>
                </a:solidFill>
                <a:latin typeface="Calibri"/>
                <a:ea typeface="Calibri"/>
                <a:cs typeface="Calibri"/>
                <a:sym typeface="Calibri"/>
              </a:rPr>
              <a:t>URLs </a:t>
            </a:r>
            <a:r>
              <a:rPr lang="en-IN" sz="2400" b="1" dirty="0" smtClean="0">
                <a:solidFill>
                  <a:schemeClr val="dk1"/>
                </a:solidFill>
                <a:latin typeface="Calibri"/>
                <a:ea typeface="Calibri"/>
                <a:cs typeface="Calibri"/>
                <a:sym typeface="Calibri"/>
              </a:rPr>
              <a:t>:</a:t>
            </a:r>
          </a:p>
          <a:p>
            <a:pPr marL="304800" marR="0" lvl="0" indent="-342900" algn="l" rtl="0">
              <a:lnSpc>
                <a:spcPct val="100000"/>
              </a:lnSpc>
              <a:spcBef>
                <a:spcPts val="0"/>
              </a:spcBef>
              <a:spcAft>
                <a:spcPts val="0"/>
              </a:spcAft>
              <a:buClr>
                <a:schemeClr val="dk1"/>
              </a:buClr>
              <a:buSzPts val="2400"/>
              <a:buFont typeface="Wingdings" panose="05000000000000000000" pitchFamily="2" charset="2"/>
              <a:buChar char="q"/>
            </a:pPr>
            <a:r>
              <a:rPr lang="en-IN" sz="2400" b="1" dirty="0" smtClean="0">
                <a:solidFill>
                  <a:schemeClr val="dk1"/>
                </a:solidFill>
                <a:latin typeface="Calibri"/>
                <a:ea typeface="Calibri"/>
                <a:cs typeface="Calibri"/>
                <a:sym typeface="Calibri"/>
              </a:rPr>
              <a:t> </a:t>
            </a:r>
            <a:r>
              <a:rPr lang="en-IN" sz="2400" b="1" dirty="0" smtClean="0">
                <a:solidFill>
                  <a:schemeClr val="dk1"/>
                </a:solidFill>
                <a:latin typeface="Calibri"/>
                <a:ea typeface="Calibri"/>
                <a:cs typeface="Calibri"/>
                <a:sym typeface="Calibri"/>
                <a:hlinkClick r:id="rId3"/>
              </a:rPr>
              <a:t>http://www.linkedin.com/in/gayatri-borate-853907367</a:t>
            </a:r>
            <a:endParaRPr lang="en-IN" sz="2400" b="1" dirty="0" smtClean="0">
              <a:solidFill>
                <a:schemeClr val="dk1"/>
              </a:solidFill>
              <a:latin typeface="Calibri"/>
              <a:ea typeface="Calibri"/>
              <a:cs typeface="Calibri"/>
              <a:sym typeface="Calibri"/>
            </a:endParaRPr>
          </a:p>
          <a:p>
            <a:pPr marL="304800" marR="0" lvl="0" indent="-342900" algn="l" rtl="0">
              <a:lnSpc>
                <a:spcPct val="100000"/>
              </a:lnSpc>
              <a:spcBef>
                <a:spcPts val="0"/>
              </a:spcBef>
              <a:spcAft>
                <a:spcPts val="0"/>
              </a:spcAft>
              <a:buClr>
                <a:schemeClr val="dk1"/>
              </a:buClr>
              <a:buSzPts val="2400"/>
              <a:buFont typeface="Wingdings" panose="05000000000000000000" pitchFamily="2" charset="2"/>
              <a:buChar char="q"/>
            </a:pPr>
            <a:r>
              <a:rPr lang="en-IN" sz="2400" b="1" i="0" u="none" strike="noStrike" cap="none" dirty="0" smtClean="0">
                <a:solidFill>
                  <a:schemeClr val="dk1"/>
                </a:solidFill>
                <a:latin typeface="Calibri"/>
                <a:ea typeface="Calibri"/>
                <a:cs typeface="Calibri"/>
                <a:sym typeface="Calibri"/>
                <a:hlinkClick r:id="rId4"/>
              </a:rPr>
              <a:t>https://github.com/gayatriborate16/Gayatri-Borate.git</a:t>
            </a:r>
            <a:endParaRPr sz="2400" b="1" i="0" u="none" strike="noStrike" cap="none" dirty="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a:solidFill>
                  <a:srgbClr val="FF0000"/>
                </a:solidFill>
                <a:latin typeface="Lato Black"/>
                <a:ea typeface="Lato Black"/>
                <a:cs typeface="Lato Black"/>
                <a:sym typeface="Lato Black"/>
              </a:rPr>
              <a:t>About me</a:t>
            </a:r>
            <a:endParaRPr sz="1800" b="0" i="0" u="none" strike="noStrike" cap="none">
              <a:solidFill>
                <a:srgbClr val="FF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208472" y="1825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IN" b="1" dirty="0" smtClean="0">
                <a:solidFill>
                  <a:srgbClr val="FF0000"/>
                </a:solidFill>
              </a:rPr>
              <a:t>Agenda</a:t>
            </a:r>
            <a:endParaRPr b="1"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Font typeface="Wingdings" panose="05000000000000000000" pitchFamily="2" charset="2"/>
              <a:buChar char="q"/>
            </a:pPr>
            <a:r>
              <a:rPr lang="en-IN" sz="2400" b="1" dirty="0"/>
              <a:t>Objective of the Project</a:t>
            </a:r>
            <a:endParaRPr sz="2400" dirty="0"/>
          </a:p>
          <a:p>
            <a:pPr marL="457200" lvl="0" indent="-431800" algn="l" rtl="0">
              <a:lnSpc>
                <a:spcPct val="90000"/>
              </a:lnSpc>
              <a:spcBef>
                <a:spcPts val="1000"/>
              </a:spcBef>
              <a:spcAft>
                <a:spcPts val="0"/>
              </a:spcAft>
              <a:buSzPts val="2400"/>
              <a:buFont typeface="Wingdings" panose="05000000000000000000" pitchFamily="2" charset="2"/>
              <a:buChar char="q"/>
            </a:pPr>
            <a:r>
              <a:rPr lang="en-IN" sz="2400" b="1" dirty="0"/>
              <a:t>ER Diagram and schema explanation</a:t>
            </a:r>
            <a:endParaRPr sz="2400" dirty="0"/>
          </a:p>
          <a:p>
            <a:pPr marL="457200" lvl="0" indent="-431800" algn="l" rtl="0">
              <a:lnSpc>
                <a:spcPct val="90000"/>
              </a:lnSpc>
              <a:spcBef>
                <a:spcPts val="1000"/>
              </a:spcBef>
              <a:spcAft>
                <a:spcPts val="0"/>
              </a:spcAft>
              <a:buSzPts val="2400"/>
              <a:buFont typeface="Wingdings" panose="05000000000000000000" pitchFamily="2" charset="2"/>
              <a:buChar char="q"/>
            </a:pPr>
            <a:r>
              <a:rPr lang="en-IN" sz="2400" b="1" dirty="0"/>
              <a:t>Key analysis questions </a:t>
            </a:r>
            <a:endParaRPr lang="en-IN" sz="2400" b="1" dirty="0" smtClean="0"/>
          </a:p>
          <a:p>
            <a:pPr marL="457200" lvl="0" indent="-431800" algn="l" rtl="0">
              <a:lnSpc>
                <a:spcPct val="90000"/>
              </a:lnSpc>
              <a:spcBef>
                <a:spcPts val="1000"/>
              </a:spcBef>
              <a:spcAft>
                <a:spcPts val="0"/>
              </a:spcAft>
              <a:buSzPts val="2400"/>
              <a:buFont typeface="Wingdings" panose="05000000000000000000" pitchFamily="2" charset="2"/>
              <a:buChar char="q"/>
            </a:pPr>
            <a:r>
              <a:rPr lang="en-IN" sz="2400" b="1" dirty="0" smtClean="0"/>
              <a:t>SQL </a:t>
            </a:r>
            <a:r>
              <a:rPr lang="en-IN" sz="2400" b="1" dirty="0"/>
              <a:t>query results with screenshots or summaries</a:t>
            </a:r>
            <a:endParaRPr sz="2400" dirty="0"/>
          </a:p>
          <a:p>
            <a:pPr marL="457200" lvl="0" indent="-431800" algn="l" rtl="0">
              <a:lnSpc>
                <a:spcPct val="90000"/>
              </a:lnSpc>
              <a:spcBef>
                <a:spcPts val="1000"/>
              </a:spcBef>
              <a:spcAft>
                <a:spcPts val="0"/>
              </a:spcAft>
              <a:buSzPts val="2400"/>
              <a:buFont typeface="Wingdings" panose="05000000000000000000" pitchFamily="2" charset="2"/>
              <a:buChar char="q"/>
            </a:pPr>
            <a:r>
              <a:rPr lang="en-IN" sz="2400" b="1" dirty="0"/>
              <a:t>Final business insights and recommendations</a:t>
            </a:r>
            <a:endParaRPr sz="2400" dirty="0"/>
          </a:p>
          <a:p>
            <a:pPr marL="457200" lvl="0" indent="-431800" algn="l" rtl="0">
              <a:lnSpc>
                <a:spcPct val="90000"/>
              </a:lnSpc>
              <a:spcBef>
                <a:spcPts val="1000"/>
              </a:spcBef>
              <a:spcAft>
                <a:spcPts val="0"/>
              </a:spcAft>
              <a:buSzPts val="2400"/>
              <a:buFont typeface="Wingdings" panose="05000000000000000000" pitchFamily="2" charset="2"/>
              <a:buChar char="q"/>
            </a:pPr>
            <a:r>
              <a:rPr lang="en-IN" sz="2400" b="1" dirty="0"/>
              <a:t>Conclusion </a:t>
            </a:r>
            <a:endParaRPr sz="2400" dirty="0"/>
          </a:p>
          <a:p>
            <a:pPr marL="457200" lvl="0" indent="-431800" algn="l" rtl="0">
              <a:lnSpc>
                <a:spcPct val="90000"/>
              </a:lnSpc>
              <a:spcBef>
                <a:spcPts val="1000"/>
              </a:spcBef>
              <a:spcAft>
                <a:spcPts val="0"/>
              </a:spcAft>
              <a:buSzPts val="2400"/>
              <a:buFont typeface="Wingdings" panose="05000000000000000000" pitchFamily="2" charset="2"/>
              <a:buChar char="q"/>
            </a:pPr>
            <a:r>
              <a:rPr lang="en-IN" sz="2400" b="1" dirty="0" smtClean="0"/>
              <a:t>Experience/Challenges </a:t>
            </a:r>
            <a:r>
              <a:rPr lang="en-IN" sz="2400" b="1" dirty="0"/>
              <a:t>working on SQL – Data Analysis Project.</a:t>
            </a:r>
            <a:endParaRPr sz="2400" dirty="0"/>
          </a:p>
          <a:p>
            <a:pPr marL="0" lvl="0" indent="0" algn="l" rtl="0">
              <a:lnSpc>
                <a:spcPct val="90000"/>
              </a:lnSpc>
              <a:spcBef>
                <a:spcPts val="1000"/>
              </a:spcBef>
              <a:spcAft>
                <a:spcPts val="0"/>
              </a:spcAft>
              <a:buClr>
                <a:schemeClr val="dk1"/>
              </a:buClr>
              <a:buSzPts val="2800"/>
              <a:buNone/>
            </a:pPr>
            <a:endParaRP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Project Storyline</a:t>
            </a:r>
            <a:endParaRPr lang="en-IN" sz="3600" b="1" dirty="0">
              <a:solidFill>
                <a:srgbClr val="FF0000"/>
              </a:solidFill>
            </a:endParaRPr>
          </a:p>
        </p:txBody>
      </p:sp>
      <p:sp>
        <p:nvSpPr>
          <p:cNvPr id="3" name="Text Placeholder 2"/>
          <p:cNvSpPr>
            <a:spLocks noGrp="1"/>
          </p:cNvSpPr>
          <p:nvPr>
            <p:ph type="body" idx="1"/>
          </p:nvPr>
        </p:nvSpPr>
        <p:spPr>
          <a:xfrm>
            <a:off x="241300" y="1828799"/>
            <a:ext cx="11518900" cy="4051301"/>
          </a:xfrm>
        </p:spPr>
        <p:txBody>
          <a:bodyPr>
            <a:normAutofit/>
          </a:bodyPr>
          <a:lstStyle/>
          <a:p>
            <a:pPr algn="just">
              <a:buFont typeface="Wingdings" panose="05000000000000000000" pitchFamily="2" charset="2"/>
              <a:buChar char="q"/>
            </a:pPr>
            <a:r>
              <a:rPr lang="en-US" sz="2400" dirty="0" smtClean="0"/>
              <a:t>I </a:t>
            </a:r>
            <a:r>
              <a:rPr lang="en-US" sz="2400" dirty="0"/>
              <a:t>chose the Hospital Database Management System project because healthcare is a domain where data accuracy and structure are extremely important. Hospitals deal with patients, doctors, treatments, medications, rooms, and schedules simultaneously, which makes it a perfect real-world example of complex relational data</a:t>
            </a:r>
            <a:r>
              <a:rPr lang="en-US" sz="2400" dirty="0" smtClean="0"/>
              <a:t>.</a:t>
            </a:r>
          </a:p>
          <a:p>
            <a:pPr algn="just">
              <a:buFont typeface="Wingdings" panose="05000000000000000000" pitchFamily="2" charset="2"/>
              <a:buChar char="q"/>
            </a:pPr>
            <a:endParaRPr lang="en-US" sz="2400" dirty="0"/>
          </a:p>
          <a:p>
            <a:pPr algn="just">
              <a:buFont typeface="Wingdings" panose="05000000000000000000" pitchFamily="2" charset="2"/>
              <a:buChar char="q"/>
            </a:pPr>
            <a:r>
              <a:rPr lang="en-US" sz="2400" dirty="0"/>
              <a:t>Through this project, I wanted to understand how large, interrelated datasets are designed and managed using SQL. It helped me practice normalization, primary and foreign key relationships, and complex joins while simulating real hospital workflows such as appointments, patient stays, prescriptions, and procedures</a:t>
            </a:r>
            <a:r>
              <a:rPr lang="en-US" sz="2400" dirty="0" smtClean="0"/>
              <a:t>.</a:t>
            </a:r>
            <a:endParaRPr lang="en-US" sz="2400" dirty="0"/>
          </a:p>
          <a:p>
            <a:endParaRPr lang="en-IN" dirty="0"/>
          </a:p>
        </p:txBody>
      </p:sp>
    </p:spTree>
    <p:extLst>
      <p:ext uri="{BB962C8B-B14F-4D97-AF65-F5344CB8AC3E}">
        <p14:creationId xmlns:p14="http://schemas.microsoft.com/office/powerpoint/2010/main" val="307068337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Problem Statement</a:t>
            </a:r>
            <a:endParaRPr lang="en-IN" sz="3600" b="1" dirty="0">
              <a:solidFill>
                <a:srgbClr val="FF0000"/>
              </a:solidFill>
            </a:endParaRPr>
          </a:p>
        </p:txBody>
      </p:sp>
      <p:sp>
        <p:nvSpPr>
          <p:cNvPr id="3" name="Text Placeholder 2"/>
          <p:cNvSpPr>
            <a:spLocks noGrp="1"/>
          </p:cNvSpPr>
          <p:nvPr>
            <p:ph type="body" idx="1"/>
          </p:nvPr>
        </p:nvSpPr>
        <p:spPr>
          <a:xfrm>
            <a:off x="254000" y="1690688"/>
            <a:ext cx="11569700" cy="4486275"/>
          </a:xfrm>
        </p:spPr>
        <p:txBody>
          <a:bodyPr>
            <a:normAutofit lnSpcReduction="10000"/>
          </a:bodyPr>
          <a:lstStyle/>
          <a:p>
            <a:pPr>
              <a:buFont typeface="Wingdings" panose="05000000000000000000" pitchFamily="2" charset="2"/>
              <a:buChar char="q"/>
            </a:pPr>
            <a:r>
              <a:rPr lang="en-US" sz="2600" b="1" dirty="0" smtClean="0"/>
              <a:t>Problem Statement :</a:t>
            </a:r>
          </a:p>
          <a:p>
            <a:pPr algn="just">
              <a:buFont typeface="Wingdings" panose="05000000000000000000" pitchFamily="2" charset="2"/>
              <a:buChar char="q"/>
            </a:pPr>
            <a:r>
              <a:rPr lang="en-US" sz="2400" dirty="0" smtClean="0"/>
              <a:t>Hospitals </a:t>
            </a:r>
            <a:r>
              <a:rPr lang="en-US" sz="2400" dirty="0"/>
              <a:t>manage large volumes of data related to patients, doctors, nurses, appointments, treatments, medications, room allocation, and medical procedures. When this information is maintained manually or in unstructured systems, it leads to data redundancy, inconsistency, difficulty in retrieval, and risk of errors that can directly affect patient care</a:t>
            </a:r>
            <a:r>
              <a:rPr lang="en-US" sz="2400" dirty="0" smtClean="0"/>
              <a:t>.</a:t>
            </a:r>
          </a:p>
          <a:p>
            <a:pPr>
              <a:buFont typeface="Wingdings" panose="05000000000000000000" pitchFamily="2" charset="2"/>
              <a:buChar char="q"/>
            </a:pPr>
            <a:endParaRPr lang="en-US" sz="2400" dirty="0"/>
          </a:p>
          <a:p>
            <a:pPr>
              <a:buFont typeface="Wingdings" panose="05000000000000000000" pitchFamily="2" charset="2"/>
              <a:buChar char="q"/>
            </a:pPr>
            <a:r>
              <a:rPr lang="en-US" sz="2600" b="1" dirty="0" smtClean="0"/>
              <a:t>Objective : </a:t>
            </a:r>
          </a:p>
          <a:p>
            <a:pPr algn="just">
              <a:buFont typeface="Wingdings" panose="05000000000000000000" pitchFamily="2" charset="2"/>
              <a:buChar char="q"/>
            </a:pPr>
            <a:r>
              <a:rPr lang="en-US" sz="2400" dirty="0"/>
              <a:t>My project solves the problem of managing complex and interconnected hospital data in a structured way. It reduces redundancy, improves data accuracy, and enables efficient retrieval of information such as patient history, doctor assignments, room availability, and treatment records using SQL.</a:t>
            </a:r>
            <a:endParaRPr lang="en-IN" sz="2600" b="1" dirty="0"/>
          </a:p>
        </p:txBody>
      </p:sp>
    </p:spTree>
    <p:extLst>
      <p:ext uri="{BB962C8B-B14F-4D97-AF65-F5344CB8AC3E}">
        <p14:creationId xmlns:p14="http://schemas.microsoft.com/office/powerpoint/2010/main" val="6360182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675"/>
            <a:ext cx="11353800" cy="803275"/>
          </a:xfrm>
        </p:spPr>
        <p:txBody>
          <a:bodyPr>
            <a:normAutofit/>
          </a:bodyPr>
          <a:lstStyle/>
          <a:p>
            <a:r>
              <a:rPr lang="en-US" sz="3600" b="1" dirty="0" smtClean="0">
                <a:solidFill>
                  <a:srgbClr val="FF0000"/>
                </a:solidFill>
              </a:rPr>
              <a:t>Why Relational Database is needed ?</a:t>
            </a:r>
            <a:endParaRPr lang="en-IN" sz="3600" b="1" dirty="0">
              <a:solidFill>
                <a:srgbClr val="FF0000"/>
              </a:solidFill>
            </a:endParaRPr>
          </a:p>
        </p:txBody>
      </p:sp>
      <p:sp>
        <p:nvSpPr>
          <p:cNvPr id="3" name="Text Placeholder 2"/>
          <p:cNvSpPr>
            <a:spLocks noGrp="1"/>
          </p:cNvSpPr>
          <p:nvPr>
            <p:ph type="body" idx="1"/>
          </p:nvPr>
        </p:nvSpPr>
        <p:spPr>
          <a:xfrm>
            <a:off x="177800" y="996950"/>
            <a:ext cx="11176000" cy="4678363"/>
          </a:xfrm>
        </p:spPr>
        <p:txBody>
          <a:bodyPr>
            <a:noAutofit/>
          </a:bodyPr>
          <a:lstStyle/>
          <a:p>
            <a:pPr>
              <a:buFont typeface="Wingdings" panose="05000000000000000000" pitchFamily="2" charset="2"/>
              <a:buChar char="q"/>
            </a:pPr>
            <a:r>
              <a:rPr lang="en-US" sz="1500" dirty="0"/>
              <a:t>A relational database is required because hospital operations must strictly follow business rules, and these rules can be enforced directly at the database level</a:t>
            </a:r>
            <a:r>
              <a:rPr lang="en-US" sz="1500" dirty="0" smtClean="0"/>
              <a:t>.</a:t>
            </a:r>
          </a:p>
          <a:p>
            <a:pPr>
              <a:buFont typeface="Wingdings" panose="05000000000000000000" pitchFamily="2" charset="2"/>
              <a:buChar char="q"/>
            </a:pPr>
            <a:endParaRPr lang="en-US" sz="1500" dirty="0"/>
          </a:p>
          <a:p>
            <a:pPr>
              <a:buFont typeface="Wingdings" panose="05000000000000000000" pitchFamily="2" charset="2"/>
              <a:buChar char="q"/>
            </a:pPr>
            <a:r>
              <a:rPr lang="en-US" sz="1500" b="1" dirty="0"/>
              <a:t>In this </a:t>
            </a:r>
            <a:r>
              <a:rPr lang="en-US" sz="1500" b="1" dirty="0" smtClean="0"/>
              <a:t>project</a:t>
            </a:r>
            <a:r>
              <a:rPr lang="en-US" sz="1500" dirty="0" smtClean="0"/>
              <a:t>:</a:t>
            </a:r>
            <a:endParaRPr lang="en-US" sz="1500" dirty="0"/>
          </a:p>
          <a:p>
            <a:pPr marL="628650" indent="-514350">
              <a:buFont typeface="+mj-lt"/>
              <a:buAutoNum type="arabicPeriod"/>
            </a:pPr>
            <a:r>
              <a:rPr lang="en-US" sz="1500" dirty="0"/>
              <a:t>A procedure can only be performed by a physician who is trained and certified</a:t>
            </a:r>
          </a:p>
          <a:p>
            <a:pPr marL="628650" indent="-514350">
              <a:buFont typeface="+mj-lt"/>
              <a:buAutoNum type="arabicPeriod"/>
            </a:pPr>
            <a:r>
              <a:rPr lang="en-US" sz="1500" dirty="0"/>
              <a:t>An appointment cannot exist without a valid patient and physician</a:t>
            </a:r>
          </a:p>
          <a:p>
            <a:pPr marL="628650" indent="-514350">
              <a:buFont typeface="+mj-lt"/>
              <a:buAutoNum type="arabicPeriod"/>
            </a:pPr>
            <a:r>
              <a:rPr lang="en-US" sz="1500" dirty="0"/>
              <a:t>A room assignment must refer to an existing room and </a:t>
            </a:r>
            <a:r>
              <a:rPr lang="en-US" sz="1500" dirty="0" smtClean="0"/>
              <a:t>block</a:t>
            </a:r>
            <a:endParaRPr lang="en-US" sz="1500" dirty="0"/>
          </a:p>
          <a:p>
            <a:pPr marL="628650" indent="-514350">
              <a:buFont typeface="+mj-lt"/>
              <a:buAutoNum type="arabicPeriod"/>
            </a:pPr>
            <a:r>
              <a:rPr lang="en-US" sz="1500" dirty="0"/>
              <a:t>A prescription must reference a valid patient, physician, and </a:t>
            </a:r>
            <a:r>
              <a:rPr lang="en-US" sz="1500" dirty="0" smtClean="0"/>
              <a:t>medication</a:t>
            </a:r>
          </a:p>
          <a:p>
            <a:pPr marL="114300" indent="0">
              <a:buNone/>
            </a:pPr>
            <a:endParaRPr lang="en-US" sz="1500" dirty="0"/>
          </a:p>
          <a:p>
            <a:r>
              <a:rPr lang="en-US" sz="1500" b="1" dirty="0"/>
              <a:t>Relational databases enforce these rules using:</a:t>
            </a:r>
          </a:p>
          <a:p>
            <a:pPr marL="628650" indent="-514350">
              <a:buFont typeface="+mj-lt"/>
              <a:buAutoNum type="arabicPeriod"/>
            </a:pPr>
            <a:r>
              <a:rPr lang="en-US" sz="1500" dirty="0"/>
              <a:t>Primary keys</a:t>
            </a:r>
          </a:p>
          <a:p>
            <a:pPr marL="628650" indent="-514350">
              <a:buFont typeface="+mj-lt"/>
              <a:buAutoNum type="arabicPeriod"/>
            </a:pPr>
            <a:r>
              <a:rPr lang="en-US" sz="1500" dirty="0"/>
              <a:t>Foreign keys</a:t>
            </a:r>
          </a:p>
          <a:p>
            <a:pPr marL="628650" indent="-514350">
              <a:buFont typeface="+mj-lt"/>
              <a:buAutoNum type="arabicPeriod"/>
            </a:pPr>
            <a:r>
              <a:rPr lang="en-US" sz="1500" dirty="0"/>
              <a:t>Unique constraints</a:t>
            </a:r>
          </a:p>
          <a:p>
            <a:pPr marL="628650" indent="-514350">
              <a:buFont typeface="+mj-lt"/>
              <a:buAutoNum type="arabicPeriod"/>
            </a:pPr>
            <a:r>
              <a:rPr lang="en-US" sz="1500" dirty="0"/>
              <a:t>Referential </a:t>
            </a:r>
            <a:r>
              <a:rPr lang="en-US" sz="1500" dirty="0" smtClean="0"/>
              <a:t>integrity</a:t>
            </a:r>
          </a:p>
          <a:p>
            <a:pPr marL="114300" indent="0">
              <a:buNone/>
            </a:pPr>
            <a:endParaRPr lang="en-US" sz="1500" dirty="0"/>
          </a:p>
          <a:p>
            <a:r>
              <a:rPr lang="en-US" sz="1500" dirty="0"/>
              <a:t>This ensures that </a:t>
            </a:r>
            <a:r>
              <a:rPr lang="en-US" sz="1500" b="1" dirty="0"/>
              <a:t>invalid or inconsistent medical data cannot be inserted</a:t>
            </a:r>
            <a:r>
              <a:rPr lang="en-US" sz="1500" dirty="0"/>
              <a:t>, which is critical in healthcare systems.</a:t>
            </a:r>
          </a:p>
        </p:txBody>
      </p:sp>
    </p:spTree>
    <p:extLst>
      <p:ext uri="{BB962C8B-B14F-4D97-AF65-F5344CB8AC3E}">
        <p14:creationId xmlns:p14="http://schemas.microsoft.com/office/powerpoint/2010/main" val="406172092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solidFill>
                  <a:srgbClr val="FF0000"/>
                </a:solidFill>
              </a:rPr>
              <a:t>ER Diagram and </a:t>
            </a:r>
            <a:r>
              <a:rPr lang="en-US" sz="3600" b="1" smtClean="0">
                <a:solidFill>
                  <a:srgbClr val="FF0000"/>
                </a:solidFill>
              </a:rPr>
              <a:t>Schema Explanation</a:t>
            </a:r>
            <a:endParaRPr lang="en-IN" sz="3600" b="1" dirty="0">
              <a:solidFill>
                <a:srgbClr val="FF0000"/>
              </a:solidFill>
            </a:endParaRPr>
          </a:p>
        </p:txBody>
      </p:sp>
      <p:sp>
        <p:nvSpPr>
          <p:cNvPr id="3" name="Text Placeholder 2"/>
          <p:cNvSpPr>
            <a:spLocks noGrp="1"/>
          </p:cNvSpPr>
          <p:nvPr>
            <p:ph type="body" idx="1"/>
          </p:nvPr>
        </p:nvSpPr>
        <p:spPr/>
        <p:txBody>
          <a:bodyPr/>
          <a:lstStyle/>
          <a:p>
            <a:pPr marL="114300" indent="0">
              <a:buNone/>
            </a:pPr>
            <a:endParaRPr lang="en-IN"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3568" t="12543" r="17231" b="7373"/>
          <a:stretch/>
        </p:blipFill>
        <p:spPr>
          <a:xfrm>
            <a:off x="838200" y="1825625"/>
            <a:ext cx="10223500" cy="4531056"/>
          </a:xfrm>
          <a:prstGeom prst="rect">
            <a:avLst/>
          </a:prstGeom>
        </p:spPr>
      </p:pic>
    </p:spTree>
    <p:extLst>
      <p:ext uri="{BB962C8B-B14F-4D97-AF65-F5344CB8AC3E}">
        <p14:creationId xmlns:p14="http://schemas.microsoft.com/office/powerpoint/2010/main" val="26939100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b="1" dirty="0" smtClean="0">
                <a:solidFill>
                  <a:srgbClr val="FF0000"/>
                </a:solidFill>
              </a:rPr>
              <a:t>SQL Queries with Summaries</a:t>
            </a:r>
            <a:br>
              <a:rPr lang="en-US" sz="3600" b="1" dirty="0" smtClean="0">
                <a:solidFill>
                  <a:srgbClr val="FF0000"/>
                </a:solidFill>
              </a:rPr>
            </a:br>
            <a:r>
              <a:rPr lang="en-US" sz="3600" b="1" dirty="0">
                <a:solidFill>
                  <a:srgbClr val="FF0000"/>
                </a:solidFill>
              </a:rPr>
              <a:t/>
            </a:r>
            <a:br>
              <a:rPr lang="en-US" sz="3600" b="1" dirty="0">
                <a:solidFill>
                  <a:srgbClr val="FF0000"/>
                </a:solidFill>
              </a:rPr>
            </a:br>
            <a:r>
              <a:rPr lang="en-US" sz="2000" b="1" dirty="0">
                <a:solidFill>
                  <a:schemeClr val="tx1"/>
                </a:solidFill>
              </a:rPr>
              <a:t>Q</a:t>
            </a:r>
            <a:r>
              <a:rPr lang="en-US" sz="2000" b="1" dirty="0" smtClean="0">
                <a:solidFill>
                  <a:schemeClr val="tx1"/>
                </a:solidFill>
              </a:rPr>
              <a:t>. </a:t>
            </a:r>
            <a:r>
              <a:rPr lang="en-US" sz="2000" b="1" dirty="0">
                <a:solidFill>
                  <a:schemeClr val="tx1"/>
                </a:solidFill>
              </a:rPr>
              <a:t>Write a query in SQL to obtain the name of the physicians with department who are yet to be affiliated</a:t>
            </a:r>
            <a:r>
              <a:rPr lang="en-US" sz="2000" b="1" dirty="0" smtClean="0">
                <a:solidFill>
                  <a:schemeClr val="tx1"/>
                </a:solidFill>
              </a:rPr>
              <a:t/>
            </a:r>
            <a:br>
              <a:rPr lang="en-US" sz="2000" b="1" dirty="0" smtClean="0">
                <a:solidFill>
                  <a:schemeClr val="tx1"/>
                </a:solidFill>
              </a:rPr>
            </a:br>
            <a:endParaRPr lang="en-IN" sz="2000" b="1" dirty="0">
              <a:solidFill>
                <a:schemeClr val="tx1"/>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007271"/>
            <a:ext cx="3683000" cy="2441989"/>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5146844"/>
            <a:ext cx="3980292" cy="1139656"/>
          </a:xfrm>
          <a:prstGeom prst="rect">
            <a:avLst/>
          </a:prstGeom>
        </p:spPr>
      </p:pic>
      <p:sp>
        <p:nvSpPr>
          <p:cNvPr id="7" name="Rectangle 6"/>
          <p:cNvSpPr/>
          <p:nvPr/>
        </p:nvSpPr>
        <p:spPr>
          <a:xfrm>
            <a:off x="7302500" y="2479802"/>
            <a:ext cx="3175000" cy="1969458"/>
          </a:xfrm>
          <a:prstGeom prst="rect">
            <a:avLst/>
          </a:prstGeom>
          <a:solidFill>
            <a:schemeClr val="accent5">
              <a:lumMod val="40000"/>
              <a:lumOff val="60000"/>
            </a:schemeClr>
          </a:soli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libri" panose="020F0502020204030204" pitchFamily="34" charset="0"/>
                <a:cs typeface="Calibri" panose="020F0502020204030204" pitchFamily="34" charset="0"/>
              </a:rPr>
              <a:t>This query displays the names of the physicians who are not affiliated </a:t>
            </a:r>
            <a:r>
              <a:rPr lang="en-US" sz="2000" b="1" dirty="0" smtClean="0">
                <a:solidFill>
                  <a:schemeClr val="tx1"/>
                </a:solidFill>
                <a:latin typeface="Calibri" panose="020F0502020204030204" pitchFamily="34" charset="0"/>
                <a:cs typeface="Calibri" panose="020F0502020204030204" pitchFamily="34" charset="0"/>
              </a:rPr>
              <a:t>yet</a:t>
            </a:r>
          </a:p>
        </p:txBody>
      </p:sp>
    </p:spTree>
    <p:extLst>
      <p:ext uri="{BB962C8B-B14F-4D97-AF65-F5344CB8AC3E}">
        <p14:creationId xmlns:p14="http://schemas.microsoft.com/office/powerpoint/2010/main" val="19385590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smtClean="0"/>
              <a:t>Q. </a:t>
            </a:r>
            <a:r>
              <a:rPr lang="en-US" sz="1800" b="1" dirty="0"/>
              <a:t>Write a query in SQL to obtain the name of the patients with their physicians by whom they got their preliminary treatment</a:t>
            </a:r>
            <a:endParaRPr lang="en-IN" sz="18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893888"/>
            <a:ext cx="3260506" cy="201771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530656"/>
            <a:ext cx="3401048" cy="1463743"/>
          </a:xfrm>
          <a:prstGeom prst="rect">
            <a:avLst/>
          </a:prstGeom>
        </p:spPr>
      </p:pic>
      <p:sp>
        <p:nvSpPr>
          <p:cNvPr id="7" name="Rounded Rectangle 6"/>
          <p:cNvSpPr/>
          <p:nvPr/>
        </p:nvSpPr>
        <p:spPr>
          <a:xfrm>
            <a:off x="7302500" y="2222500"/>
            <a:ext cx="3606800" cy="217170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rPr>
              <a:t>This Query shows the patients along with the doctors who provided their initial treatment</a:t>
            </a:r>
            <a:endParaRPr lang="en-IN" sz="2000" b="1" dirty="0">
              <a:solidFill>
                <a:schemeClr val="tx1"/>
              </a:solidFill>
            </a:endParaRPr>
          </a:p>
        </p:txBody>
      </p:sp>
    </p:spTree>
    <p:extLst>
      <p:ext uri="{BB962C8B-B14F-4D97-AF65-F5344CB8AC3E}">
        <p14:creationId xmlns:p14="http://schemas.microsoft.com/office/powerpoint/2010/main" val="33377125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t>Q. Write </a:t>
            </a:r>
            <a:r>
              <a:rPr lang="en-US" sz="2000" b="1" dirty="0"/>
              <a:t>a query in SQL to find the name of the patients and the number of physicians they have taken appointment</a:t>
            </a:r>
            <a:endParaRPr lang="en-IN" sz="20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4970" y="1825525"/>
            <a:ext cx="5305165" cy="1984475"/>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4970" y="4392536"/>
            <a:ext cx="3663393" cy="1601864"/>
          </a:xfrm>
          <a:prstGeom prst="rect">
            <a:avLst/>
          </a:prstGeom>
        </p:spPr>
      </p:pic>
      <p:sp>
        <p:nvSpPr>
          <p:cNvPr id="5" name="Rounded Rectangle 4"/>
          <p:cNvSpPr/>
          <p:nvPr/>
        </p:nvSpPr>
        <p:spPr>
          <a:xfrm>
            <a:off x="7112000" y="2787650"/>
            <a:ext cx="3479800" cy="204470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Calibri" panose="020F0502020204030204" pitchFamily="34" charset="0"/>
                <a:cs typeface="Calibri" panose="020F0502020204030204" pitchFamily="34" charset="0"/>
              </a:rPr>
              <a:t>This query shows each patient and how many different physician they have taken appointment with.</a:t>
            </a:r>
            <a:endParaRPr lang="en-IN" sz="20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050683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t>Q. Write </a:t>
            </a:r>
            <a:r>
              <a:rPr lang="en-US" sz="2000" b="1" dirty="0"/>
              <a:t>a query in SQL to count number of unique patients who got an appointment for </a:t>
            </a:r>
            <a:r>
              <a:rPr lang="en-US" sz="2000" b="1" dirty="0" smtClean="0"/>
              <a:t>    examination </a:t>
            </a:r>
            <a:r>
              <a:rPr lang="en-US" sz="2000" b="1" dirty="0"/>
              <a:t>room C</a:t>
            </a:r>
            <a:endParaRPr lang="en-IN" sz="20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266" y="1900178"/>
            <a:ext cx="4557934" cy="1960622"/>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265" y="4459252"/>
            <a:ext cx="2609433" cy="1039848"/>
          </a:xfrm>
          <a:prstGeom prst="rect">
            <a:avLst/>
          </a:prstGeom>
        </p:spPr>
      </p:pic>
      <p:sp>
        <p:nvSpPr>
          <p:cNvPr id="5" name="Rounded Rectangle 4"/>
          <p:cNvSpPr/>
          <p:nvPr/>
        </p:nvSpPr>
        <p:spPr>
          <a:xfrm>
            <a:off x="6667500" y="2667000"/>
            <a:ext cx="3886200" cy="190500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Calibri" panose="020F0502020204030204" pitchFamily="34" charset="0"/>
                <a:cs typeface="Calibri" panose="020F0502020204030204" pitchFamily="34" charset="0"/>
              </a:rPr>
              <a:t>This query shows the count of unique patients who got an appointment in room c</a:t>
            </a:r>
            <a:endParaRPr lang="en-IN" sz="20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885082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t>Q</a:t>
            </a:r>
            <a:r>
              <a:rPr lang="en-US" sz="2000" b="1" dirty="0"/>
              <a:t>. Write a query in SQL to find the name of the nurses and the room scheduled, where they will assist the physicians.</a:t>
            </a:r>
            <a:endParaRPr lang="en-IN" sz="2000" b="1"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5044" y="1895388"/>
            <a:ext cx="3684756" cy="1908440"/>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5044" y="4298851"/>
            <a:ext cx="3128991" cy="1962249"/>
          </a:xfrm>
          <a:prstGeom prst="rect">
            <a:avLst/>
          </a:prstGeom>
        </p:spPr>
      </p:pic>
      <p:sp>
        <p:nvSpPr>
          <p:cNvPr id="7" name="Rounded Rectangle 6"/>
          <p:cNvSpPr/>
          <p:nvPr/>
        </p:nvSpPr>
        <p:spPr>
          <a:xfrm>
            <a:off x="6299200" y="2501900"/>
            <a:ext cx="4051300" cy="210820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It shows which nurses assisted physicians and the examination rooms where they were scheduled</a:t>
            </a:r>
            <a:r>
              <a:rPr lang="en-US" sz="2000" b="1" dirty="0" smtClean="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444640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t>Q. Write </a:t>
            </a:r>
            <a:r>
              <a:rPr lang="en-US" sz="2000" b="1" dirty="0"/>
              <a:t>a query in SQL to find the name of patients and their physicians who does not require any assistance of a </a:t>
            </a:r>
            <a:r>
              <a:rPr lang="en-US" sz="2000" b="1" dirty="0" smtClean="0"/>
              <a:t>nurse.</a:t>
            </a:r>
            <a:endParaRPr lang="en-IN" sz="2000" b="1"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7730" y="1825493"/>
            <a:ext cx="3759370" cy="2556007"/>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7730" y="4962478"/>
            <a:ext cx="3347641" cy="1070022"/>
          </a:xfrm>
          <a:prstGeom prst="rect">
            <a:avLst/>
          </a:prstGeom>
        </p:spPr>
      </p:pic>
      <p:sp>
        <p:nvSpPr>
          <p:cNvPr id="5" name="Rounded Rectangle 4"/>
          <p:cNvSpPr/>
          <p:nvPr/>
        </p:nvSpPr>
        <p:spPr>
          <a:xfrm>
            <a:off x="6616700" y="2451100"/>
            <a:ext cx="3848100" cy="2146300"/>
          </a:xfrm>
          <a:prstGeom prst="round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smtClean="0">
                <a:solidFill>
                  <a:schemeClr val="tx1"/>
                </a:solidFill>
                <a:latin typeface="Calibri" panose="020F0502020204030204" pitchFamily="34" charset="0"/>
                <a:cs typeface="Calibri" panose="020F0502020204030204" pitchFamily="34" charset="0"/>
              </a:rPr>
              <a:t>It shows the names of the patients and their physicians who does not require any assistance</a:t>
            </a:r>
            <a:endParaRPr lang="en-IN" sz="20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76840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8050"/>
            <a:ext cx="10515600" cy="1325563"/>
          </a:xfrm>
        </p:spPr>
        <p:txBody>
          <a:bodyPr>
            <a:normAutofit/>
          </a:bodyPr>
          <a:lstStyle/>
          <a:p>
            <a:r>
              <a:rPr lang="en-US" sz="3600" b="1" dirty="0" smtClean="0">
                <a:solidFill>
                  <a:srgbClr val="FF0000"/>
                </a:solidFill>
              </a:rPr>
              <a:t>Business Insights</a:t>
            </a:r>
            <a:endParaRPr lang="en-IN" sz="3600" b="1" dirty="0">
              <a:solidFill>
                <a:srgbClr val="FF0000"/>
              </a:solidFill>
            </a:endParaRPr>
          </a:p>
        </p:txBody>
      </p:sp>
      <p:sp>
        <p:nvSpPr>
          <p:cNvPr id="3" name="Text Placeholder 2"/>
          <p:cNvSpPr>
            <a:spLocks noGrp="1"/>
          </p:cNvSpPr>
          <p:nvPr>
            <p:ph type="body" idx="1"/>
          </p:nvPr>
        </p:nvSpPr>
        <p:spPr>
          <a:xfrm>
            <a:off x="838200" y="1593613"/>
            <a:ext cx="10515600" cy="4351338"/>
          </a:xfrm>
        </p:spPr>
        <p:txBody>
          <a:bodyPr>
            <a:normAutofit lnSpcReduction="10000"/>
          </a:bodyPr>
          <a:lstStyle/>
          <a:p>
            <a:pPr>
              <a:buFont typeface="Wingdings" panose="05000000000000000000" pitchFamily="2" charset="2"/>
              <a:buChar char="q"/>
            </a:pPr>
            <a:r>
              <a:rPr lang="en-US" sz="2400" dirty="0"/>
              <a:t>Improves </a:t>
            </a:r>
            <a:r>
              <a:rPr lang="en-US" sz="2400" u="sng" dirty="0"/>
              <a:t>quality of patient </a:t>
            </a:r>
            <a:r>
              <a:rPr lang="en-US" sz="2400" u="sng" dirty="0" smtClean="0"/>
              <a:t>care </a:t>
            </a:r>
            <a:r>
              <a:rPr lang="en-US" sz="2400" dirty="0" smtClean="0"/>
              <a:t>and prevents </a:t>
            </a:r>
            <a:r>
              <a:rPr lang="en-US" sz="2400" u="sng" dirty="0" smtClean="0"/>
              <a:t>physician overload</a:t>
            </a:r>
          </a:p>
          <a:p>
            <a:pPr>
              <a:buFont typeface="Wingdings" panose="05000000000000000000" pitchFamily="2" charset="2"/>
              <a:buChar char="q"/>
            </a:pPr>
            <a:endParaRPr lang="en-US" sz="2400" dirty="0" smtClean="0"/>
          </a:p>
          <a:p>
            <a:pPr>
              <a:buFont typeface="Wingdings" panose="05000000000000000000" pitchFamily="2" charset="2"/>
              <a:buChar char="q"/>
            </a:pPr>
            <a:r>
              <a:rPr lang="en-US" sz="2400" u="sng" dirty="0"/>
              <a:t>Reduces repeated tests or </a:t>
            </a:r>
            <a:r>
              <a:rPr lang="en-US" sz="2400" u="sng" dirty="0" smtClean="0"/>
              <a:t>treatments </a:t>
            </a:r>
            <a:r>
              <a:rPr lang="en-US" sz="2400" dirty="0" smtClean="0"/>
              <a:t>by keeping the </a:t>
            </a:r>
            <a:r>
              <a:rPr lang="en-US" sz="2400" u="sng" dirty="0" smtClean="0"/>
              <a:t>complete view of patient history</a:t>
            </a:r>
            <a:r>
              <a:rPr lang="en-US" sz="2400" dirty="0" smtClean="0"/>
              <a:t> which improves the efficiency of treatment.</a:t>
            </a:r>
          </a:p>
          <a:p>
            <a:pPr>
              <a:buFont typeface="Wingdings" panose="05000000000000000000" pitchFamily="2" charset="2"/>
              <a:buChar char="q"/>
            </a:pPr>
            <a:endParaRPr lang="en-US" sz="2400" dirty="0"/>
          </a:p>
          <a:p>
            <a:pPr>
              <a:buFont typeface="Wingdings" panose="05000000000000000000" pitchFamily="2" charset="2"/>
              <a:buChar char="q"/>
            </a:pPr>
            <a:r>
              <a:rPr lang="en-US" sz="2400" dirty="0" smtClean="0"/>
              <a:t>By analyzing staff scheduling we can </a:t>
            </a:r>
            <a:r>
              <a:rPr lang="en-US" sz="2400" u="sng" dirty="0" smtClean="0"/>
              <a:t>prevent staff burnout</a:t>
            </a:r>
          </a:p>
          <a:p>
            <a:pPr>
              <a:buFont typeface="Wingdings" panose="05000000000000000000" pitchFamily="2" charset="2"/>
              <a:buChar char="q"/>
            </a:pPr>
            <a:endParaRPr lang="en-US" sz="2400" u="sng" dirty="0"/>
          </a:p>
          <a:p>
            <a:pPr>
              <a:buFont typeface="Wingdings" panose="05000000000000000000" pitchFamily="2" charset="2"/>
              <a:buChar char="q"/>
            </a:pPr>
            <a:r>
              <a:rPr lang="en-US" sz="2400" dirty="0" smtClean="0"/>
              <a:t>This project </a:t>
            </a:r>
            <a:r>
              <a:rPr lang="en-US" sz="2400" u="sng" dirty="0" smtClean="0"/>
              <a:t>protects patient’s safety </a:t>
            </a:r>
            <a:r>
              <a:rPr lang="en-US" sz="2400" dirty="0" smtClean="0"/>
              <a:t>and hospital’s reputation</a:t>
            </a:r>
          </a:p>
          <a:p>
            <a:pPr>
              <a:buFont typeface="Wingdings" panose="05000000000000000000" pitchFamily="2" charset="2"/>
              <a:buChar char="q"/>
            </a:pPr>
            <a:endParaRPr lang="en-US" sz="2400" dirty="0"/>
          </a:p>
          <a:p>
            <a:pPr>
              <a:buFont typeface="Wingdings" panose="05000000000000000000" pitchFamily="2" charset="2"/>
              <a:buChar char="q"/>
            </a:pPr>
            <a:r>
              <a:rPr lang="en-US" sz="2400" dirty="0" smtClean="0"/>
              <a:t>Helps </a:t>
            </a:r>
            <a:r>
              <a:rPr lang="en-US" sz="2400" u="sng" dirty="0" smtClean="0"/>
              <a:t>forecast future demands </a:t>
            </a:r>
            <a:r>
              <a:rPr lang="en-US" sz="2400" dirty="0" smtClean="0"/>
              <a:t>and improve appointment scheduling.</a:t>
            </a:r>
          </a:p>
        </p:txBody>
      </p:sp>
    </p:spTree>
    <p:extLst>
      <p:ext uri="{BB962C8B-B14F-4D97-AF65-F5344CB8AC3E}">
        <p14:creationId xmlns:p14="http://schemas.microsoft.com/office/powerpoint/2010/main" val="31495400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415" y="242296"/>
            <a:ext cx="10515600" cy="617514"/>
          </a:xfrm>
        </p:spPr>
        <p:txBody>
          <a:bodyPr/>
          <a:lstStyle/>
          <a:p>
            <a:r>
              <a:rPr lang="en-US" sz="3600" b="1" dirty="0" smtClean="0">
                <a:solidFill>
                  <a:srgbClr val="FF0000"/>
                </a:solidFill>
              </a:rPr>
              <a:t>Experience and challenges</a:t>
            </a:r>
            <a:endParaRPr lang="en-IN" sz="3600" b="1" dirty="0">
              <a:solidFill>
                <a:srgbClr val="FF0000"/>
              </a:solidFill>
            </a:endParaRPr>
          </a:p>
        </p:txBody>
      </p:sp>
      <p:sp>
        <p:nvSpPr>
          <p:cNvPr id="3" name="Text Placeholder 2"/>
          <p:cNvSpPr>
            <a:spLocks noGrp="1"/>
          </p:cNvSpPr>
          <p:nvPr>
            <p:ph type="body" idx="1"/>
          </p:nvPr>
        </p:nvSpPr>
        <p:spPr>
          <a:xfrm>
            <a:off x="537949" y="994651"/>
            <a:ext cx="10515600" cy="5665455"/>
          </a:xfrm>
        </p:spPr>
        <p:txBody>
          <a:bodyPr>
            <a:normAutofit/>
          </a:bodyPr>
          <a:lstStyle/>
          <a:p>
            <a:pPr>
              <a:buFont typeface="Wingdings" panose="05000000000000000000" pitchFamily="2" charset="2"/>
              <a:buChar char="v"/>
            </a:pPr>
            <a:r>
              <a:rPr lang="en-US" sz="2400" b="1" dirty="0" smtClean="0"/>
              <a:t>Challenges : </a:t>
            </a:r>
          </a:p>
          <a:p>
            <a:pPr>
              <a:buFont typeface="Wingdings" panose="05000000000000000000" pitchFamily="2" charset="2"/>
              <a:buChar char="q"/>
            </a:pPr>
            <a:r>
              <a:rPr lang="en-US" sz="2400" dirty="0" smtClean="0"/>
              <a:t>Designing </a:t>
            </a:r>
            <a:r>
              <a:rPr lang="en-US" sz="2400" dirty="0"/>
              <a:t>Complex Relationships Between </a:t>
            </a:r>
            <a:r>
              <a:rPr lang="en-US" sz="2400" dirty="0" smtClean="0"/>
              <a:t>Tables</a:t>
            </a:r>
            <a:endParaRPr lang="en-IN" sz="2400" dirty="0"/>
          </a:p>
          <a:p>
            <a:pPr>
              <a:buFont typeface="Wingdings" panose="05000000000000000000" pitchFamily="2" charset="2"/>
              <a:buChar char="q"/>
            </a:pPr>
            <a:r>
              <a:rPr lang="en-US" sz="2400" dirty="0"/>
              <a:t>Handling Date Fields Stored as </a:t>
            </a:r>
            <a:r>
              <a:rPr lang="en-US" sz="2400" dirty="0" smtClean="0"/>
              <a:t>Strings</a:t>
            </a:r>
          </a:p>
          <a:p>
            <a:pPr>
              <a:buFont typeface="Wingdings" panose="05000000000000000000" pitchFamily="2" charset="2"/>
              <a:buChar char="q"/>
            </a:pPr>
            <a:r>
              <a:rPr lang="en-IN" sz="2400" dirty="0"/>
              <a:t>Interpreting Ambiguous Business </a:t>
            </a:r>
            <a:r>
              <a:rPr lang="en-IN" sz="2400" dirty="0" smtClean="0"/>
              <a:t>Requirements</a:t>
            </a:r>
          </a:p>
          <a:p>
            <a:pPr>
              <a:buFont typeface="Wingdings" panose="05000000000000000000" pitchFamily="2" charset="2"/>
              <a:buChar char="q"/>
            </a:pPr>
            <a:r>
              <a:rPr lang="en-IN" sz="2400" dirty="0"/>
              <a:t>Query Performance </a:t>
            </a:r>
            <a:r>
              <a:rPr lang="en-IN" sz="2400" dirty="0" smtClean="0"/>
              <a:t>Consideration</a:t>
            </a:r>
          </a:p>
          <a:p>
            <a:pPr>
              <a:buFont typeface="Wingdings" panose="05000000000000000000" pitchFamily="2" charset="2"/>
              <a:buChar char="q"/>
            </a:pPr>
            <a:endParaRPr lang="en-US" sz="2400" dirty="0"/>
          </a:p>
          <a:p>
            <a:pPr>
              <a:buFont typeface="Wingdings" panose="05000000000000000000" pitchFamily="2" charset="2"/>
              <a:buChar char="v"/>
            </a:pPr>
            <a:r>
              <a:rPr lang="en-US" sz="2400" b="1" dirty="0" smtClean="0"/>
              <a:t>Experience :</a:t>
            </a:r>
          </a:p>
          <a:p>
            <a:pPr>
              <a:buFont typeface="Wingdings" panose="05000000000000000000" pitchFamily="2" charset="2"/>
              <a:buChar char="q"/>
            </a:pPr>
            <a:r>
              <a:rPr lang="en-IN" sz="2400" dirty="0"/>
              <a:t>Real-World Database Design </a:t>
            </a:r>
            <a:r>
              <a:rPr lang="en-IN" sz="2400" dirty="0" smtClean="0"/>
              <a:t>Experience</a:t>
            </a:r>
          </a:p>
          <a:p>
            <a:pPr>
              <a:buFont typeface="Wingdings" panose="05000000000000000000" pitchFamily="2" charset="2"/>
              <a:buChar char="q"/>
            </a:pPr>
            <a:r>
              <a:rPr lang="en-IN" sz="2400" dirty="0"/>
              <a:t>Data Accuracy &amp; Compliance </a:t>
            </a:r>
            <a:r>
              <a:rPr lang="en-IN" sz="2400" dirty="0" smtClean="0"/>
              <a:t>Awareness</a:t>
            </a:r>
          </a:p>
          <a:p>
            <a:pPr>
              <a:buFont typeface="Wingdings" panose="05000000000000000000" pitchFamily="2" charset="2"/>
              <a:buChar char="q"/>
            </a:pPr>
            <a:r>
              <a:rPr lang="en-US" sz="2400" dirty="0" smtClean="0"/>
              <a:t>Confidence Working </a:t>
            </a:r>
            <a:r>
              <a:rPr lang="en-US" sz="2400" dirty="0"/>
              <a:t>W</a:t>
            </a:r>
            <a:r>
              <a:rPr lang="en-US" sz="2400" dirty="0" smtClean="0"/>
              <a:t>ith Large Schemas</a:t>
            </a:r>
            <a:endParaRPr lang="en-IN" sz="2400" dirty="0" smtClean="0"/>
          </a:p>
          <a:p>
            <a:pPr>
              <a:buFont typeface="Wingdings" panose="05000000000000000000" pitchFamily="2" charset="2"/>
              <a:buChar char="q"/>
            </a:pPr>
            <a:r>
              <a:rPr lang="en-IN" sz="2400" dirty="0"/>
              <a:t>Exposure to Compliance-Oriented Data</a:t>
            </a:r>
            <a:endParaRPr lang="en-US" sz="2400" b="1" dirty="0" smtClean="0"/>
          </a:p>
        </p:txBody>
      </p:sp>
    </p:spTree>
    <p:extLst>
      <p:ext uri="{BB962C8B-B14F-4D97-AF65-F5344CB8AC3E}">
        <p14:creationId xmlns:p14="http://schemas.microsoft.com/office/powerpoint/2010/main" val="130493314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solidFill>
                  <a:srgbClr val="FF0000"/>
                </a:solidFill>
              </a:rPr>
              <a:t>Conclusion</a:t>
            </a:r>
            <a:r>
              <a:rPr lang="en-US" dirty="0" smtClean="0"/>
              <a:t> </a:t>
            </a:r>
            <a:endParaRPr lang="en-IN" dirty="0"/>
          </a:p>
        </p:txBody>
      </p:sp>
      <p:sp>
        <p:nvSpPr>
          <p:cNvPr id="3" name="Text Placeholder 2"/>
          <p:cNvSpPr>
            <a:spLocks noGrp="1"/>
          </p:cNvSpPr>
          <p:nvPr>
            <p:ph type="body" idx="1"/>
          </p:nvPr>
        </p:nvSpPr>
        <p:spPr/>
        <p:txBody>
          <a:bodyPr>
            <a:normAutofit/>
          </a:bodyPr>
          <a:lstStyle/>
          <a:p>
            <a:pPr algn="just">
              <a:buFont typeface="Wingdings" panose="05000000000000000000" pitchFamily="2" charset="2"/>
              <a:buChar char="q"/>
            </a:pPr>
            <a:r>
              <a:rPr lang="en-US" sz="2400" dirty="0"/>
              <a:t>The Hospital Database Management System project demonstrates the effective use of a relational database to manage complex hospital operations. </a:t>
            </a:r>
            <a:endParaRPr lang="en-US" sz="2400" dirty="0" smtClean="0"/>
          </a:p>
          <a:p>
            <a:pPr algn="just">
              <a:buFont typeface="Wingdings" panose="05000000000000000000" pitchFamily="2" charset="2"/>
              <a:buChar char="q"/>
            </a:pPr>
            <a:r>
              <a:rPr lang="en-US" sz="2400" dirty="0" smtClean="0"/>
              <a:t>It </a:t>
            </a:r>
            <a:r>
              <a:rPr lang="en-US" sz="2400" dirty="0"/>
              <a:t>organizes data related to patients, physicians, nurses, appointments, treatments, medications, and room allocation in a structured manner. </a:t>
            </a:r>
            <a:endParaRPr lang="en-US" sz="2400" dirty="0" smtClean="0"/>
          </a:p>
          <a:p>
            <a:pPr algn="just">
              <a:buFont typeface="Wingdings" panose="05000000000000000000" pitchFamily="2" charset="2"/>
              <a:buChar char="q"/>
            </a:pPr>
            <a:r>
              <a:rPr lang="en-US" sz="2400" dirty="0" smtClean="0"/>
              <a:t>By </a:t>
            </a:r>
            <a:r>
              <a:rPr lang="en-US" sz="2400" dirty="0"/>
              <a:t>applying normalization and enforcing primary and foreign key constraints, the system ensures data integrity and consistency. </a:t>
            </a:r>
            <a:endParaRPr lang="en-US" sz="2400" dirty="0" smtClean="0"/>
          </a:p>
          <a:p>
            <a:pPr algn="just">
              <a:buFont typeface="Wingdings" panose="05000000000000000000" pitchFamily="2" charset="2"/>
              <a:buChar char="q"/>
            </a:pPr>
            <a:r>
              <a:rPr lang="en-US" sz="2400" dirty="0" smtClean="0"/>
              <a:t>The </a:t>
            </a:r>
            <a:r>
              <a:rPr lang="en-US" sz="2400" dirty="0"/>
              <a:t>project supports complex SQL queries for operational and analytical insights. It also highlights the importance of accurate data management in healthcare environments. </a:t>
            </a:r>
            <a:endParaRPr lang="en-US" sz="2400" dirty="0" smtClean="0"/>
          </a:p>
          <a:p>
            <a:pPr algn="just">
              <a:buFont typeface="Wingdings" panose="05000000000000000000" pitchFamily="2" charset="2"/>
              <a:buChar char="q"/>
            </a:pPr>
            <a:r>
              <a:rPr lang="en-US" sz="2400" dirty="0" smtClean="0"/>
              <a:t>Overall</a:t>
            </a:r>
            <a:r>
              <a:rPr lang="en-US" sz="2400" dirty="0"/>
              <a:t>, the project enhanced practical SQL skills and real-world database design understanding.</a:t>
            </a:r>
            <a:endParaRPr lang="en-IN" sz="2400" dirty="0"/>
          </a:p>
        </p:txBody>
      </p:sp>
    </p:spTree>
    <p:extLst>
      <p:ext uri="{BB962C8B-B14F-4D97-AF65-F5344CB8AC3E}">
        <p14:creationId xmlns:p14="http://schemas.microsoft.com/office/powerpoint/2010/main" val="27940214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1728</TotalTime>
  <Words>876</Words>
  <Application>Microsoft Office PowerPoint</Application>
  <PresentationFormat>Widescreen</PresentationFormat>
  <Paragraphs>90</Paragraphs>
  <Slides>17</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Lato Black</vt:lpstr>
      <vt:lpstr>Libre Baskerville</vt:lpstr>
      <vt:lpstr>Calibri</vt:lpstr>
      <vt:lpstr>Wingdings</vt:lpstr>
      <vt:lpstr>Arial</vt:lpstr>
      <vt:lpstr>Office Theme</vt:lpstr>
      <vt:lpstr>PowerPoint Presentation</vt:lpstr>
      <vt:lpstr>PowerPoint Presentation</vt:lpstr>
      <vt:lpstr>Agenda</vt:lpstr>
      <vt:lpstr>Project Storyline</vt:lpstr>
      <vt:lpstr>Problem Statement</vt:lpstr>
      <vt:lpstr>Why Relational Database is needed ?</vt:lpstr>
      <vt:lpstr>ER Diagram and Schema Explanation</vt:lpstr>
      <vt:lpstr>SQL Queries with Summaries  Q. Write a query in SQL to obtain the name of the physicians with department who are yet to be affiliated </vt:lpstr>
      <vt:lpstr>Q. Write a query in SQL to obtain the name of the patients with their physicians by whom they got their preliminary treatment</vt:lpstr>
      <vt:lpstr>Q. Write a query in SQL to find the name of the patients and the number of physicians they have taken appointment</vt:lpstr>
      <vt:lpstr>Q. Write a query in SQL to count number of unique patients who got an appointment for     examination room C</vt:lpstr>
      <vt:lpstr>Q. Write a query in SQL to find the name of the nurses and the room scheduled, where they will assist the physicians.</vt:lpstr>
      <vt:lpstr>Q. Write a query in SQL to find the name of patients and their physicians who does not require any assistance of a nurse.</vt:lpstr>
      <vt:lpstr>Business Insights</vt:lpstr>
      <vt:lpstr>Experience and challenges</vt:lpstr>
      <vt:lpstr>Conclusion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Microsoft account</cp:lastModifiedBy>
  <cp:revision>31</cp:revision>
  <dcterms:created xsi:type="dcterms:W3CDTF">2021-02-16T05:19:01Z</dcterms:created>
  <dcterms:modified xsi:type="dcterms:W3CDTF">2025-12-21T20:10:33Z</dcterms:modified>
</cp:coreProperties>
</file>